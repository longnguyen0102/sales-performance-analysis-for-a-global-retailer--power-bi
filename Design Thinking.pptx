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3" r:id="rId5"/>
    <p:sldId id="324" r:id="rId6"/>
    <p:sldId id="325" r:id="rId7"/>
    <p:sldId id="326" r:id="rId8"/>
    <p:sldId id="327" r:id="rId9"/>
    <p:sldId id="328" r:id="rId10"/>
    <p:sldId id="329" r:id="rId11"/>
    <p:sldId id="331" r:id="rId12"/>
    <p:sldId id="332" r:id="rId13"/>
    <p:sldId id="33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25-Aug-25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25-Aug-25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3074-94DB-5F01-1A2F-09EF7ADC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29"/>
            <a:ext cx="9382590" cy="966273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1: Empathize – 5W1H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FB84C6-3032-BADA-C7E8-D2029747CC8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122983789"/>
              </p:ext>
            </p:extLst>
          </p:nvPr>
        </p:nvGraphicFramePr>
        <p:xfrm>
          <a:off x="1173692" y="1140902"/>
          <a:ext cx="9844616" cy="4447308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7693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6923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r>
                        <a:rPr lang="en-US" dirty="0"/>
                        <a:t>Who will read this dashboard?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Senior managers: CEO, CFO, stakeholders,…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Related departments: Marketing, Sales, Revenue…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1078914">
                <a:tc>
                  <a:txBody>
                    <a:bodyPr/>
                    <a:lstStyle/>
                    <a:p>
                      <a:r>
                        <a:rPr lang="en-US" dirty="0"/>
                        <a:t>What is the purpose of this dashboard?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Overview of business.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Products bring sales and revenue.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Factors that affect business expanding (geographic, customers, managers) and choosing key products.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14397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Where and when will stakeholder see this dashboard?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They will review this information during company strategy meetings and business performance review sessions.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00466"/>
                  </a:ext>
                </a:extLst>
              </a:tr>
              <a:tr h="704675">
                <a:tc>
                  <a:txBody>
                    <a:bodyPr/>
                    <a:lstStyle/>
                    <a:p>
                      <a:r>
                        <a:rPr lang="en-US" dirty="0"/>
                        <a:t>Why does this analysis have to be done?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The goal is to provide a holistic view of business performance and revenue, enabling strategic decisions aimed at cost optimization.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75588"/>
                  </a:ext>
                </a:extLst>
              </a:tr>
              <a:tr h="1044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How does stakeholder make decision?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After obtaining all the necessary information on </a:t>
                      </a:r>
                      <a:r>
                        <a:rPr lang="en-US" sz="1600" b="1" dirty="0"/>
                        <a:t>business performance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dirty="0"/>
                        <a:t>key products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dirty="0"/>
                        <a:t>potential expansion locations</a:t>
                      </a:r>
                      <a:r>
                        <a:rPr lang="en-US" sz="1600" dirty="0"/>
                        <a:t>, and </a:t>
                      </a:r>
                      <a:r>
                        <a:rPr lang="en-US" sz="1600" b="1" dirty="0"/>
                        <a:t>customer behavior</a:t>
                      </a:r>
                      <a:r>
                        <a:rPr lang="en-US" sz="1600" dirty="0"/>
                        <a:t>, the team will be equipped to make informed decisions regarding market expansion and strategic planning.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4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51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2FD8-DB1A-6011-732E-B5ED0F04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9365-89E8-1DA3-D07F-2F01C3FA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30"/>
            <a:ext cx="9382590" cy="98305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1: Empathize – 5W1H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A0300FF-2ABE-6B30-FEEF-CCE7737038B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729088191"/>
              </p:ext>
            </p:extLst>
          </p:nvPr>
        </p:nvGraphicFramePr>
        <p:xfrm>
          <a:off x="1175857" y="1157682"/>
          <a:ext cx="9840285" cy="1686186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6471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3814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785505">
                <a:tc>
                  <a:txBody>
                    <a:bodyPr/>
                    <a:lstStyle/>
                    <a:p>
                      <a:r>
                        <a:rPr lang="en-US" dirty="0"/>
                        <a:t>Chosen 1 key stakeholder.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Revenue managers.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29402"/>
                  </a:ext>
                </a:extLst>
              </a:tr>
              <a:tr h="900681">
                <a:tc>
                  <a:txBody>
                    <a:bodyPr/>
                    <a:lstStyle/>
                    <a:p>
                      <a:r>
                        <a:rPr lang="en-US" dirty="0"/>
                        <a:t>1 sentence to describe the problem.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Access to accurate business performance data is essential for the leadership team to make informed decisions on market expansion and strategic product selection.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1369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88D2DF-6931-1513-B59D-17F537BC8BA0}"/>
              </a:ext>
            </a:extLst>
          </p:cNvPr>
          <p:cNvGraphicFramePr>
            <a:graphicFrameLocks noGrp="1"/>
          </p:cNvGraphicFramePr>
          <p:nvPr/>
        </p:nvGraphicFramePr>
        <p:xfrm>
          <a:off x="7331978" y="582196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70538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31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37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9C4F-9FEE-684F-5A29-0DA44C93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1EA8-CD0D-3256-3DBF-75CACE1C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30"/>
            <a:ext cx="9382590" cy="98305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1: Empathize – Empathy map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BC1D92-E92F-C413-6DFF-FC7058464C1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993122466"/>
              </p:ext>
            </p:extLst>
          </p:nvPr>
        </p:nvGraphicFramePr>
        <p:xfrm>
          <a:off x="1175857" y="1157682"/>
          <a:ext cx="9840285" cy="4231406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6471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3814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939566">
                <a:tc>
                  <a:txBody>
                    <a:bodyPr/>
                    <a:lstStyle/>
                    <a:p>
                      <a:r>
                        <a:rPr lang="en-US" dirty="0"/>
                        <a:t>Thinking and feeling</a:t>
                      </a:r>
                    </a:p>
                    <a:p>
                      <a:r>
                        <a:rPr lang="en-US" sz="1400" dirty="0"/>
                        <a:t>(What does the stakeholder think and feel?)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They experience significant pressure when required to make critical decisions. If the data is disjointed and the dashboard lacks clarity or focus, it often results in frustration and a sense of discouragement.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468084"/>
                  </a:ext>
                </a:extLst>
              </a:tr>
              <a:tr h="785505">
                <a:tc>
                  <a:txBody>
                    <a:bodyPr/>
                    <a:lstStyle/>
                    <a:p>
                      <a:r>
                        <a:rPr lang="en-US" dirty="0"/>
                        <a:t>Seeing</a:t>
                      </a:r>
                    </a:p>
                    <a:p>
                      <a:r>
                        <a:rPr lang="en-US" sz="1400" dirty="0"/>
                        <a:t>(What does the stakeholder see?)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Key areas of focus include the company’s business performance, challenges in choosing strategic products, selecting suitable locations for market expansion, and analyzing customer purchasing behavior by region.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29402"/>
                  </a:ext>
                </a:extLst>
              </a:tr>
              <a:tr h="785505">
                <a:tc>
                  <a:txBody>
                    <a:bodyPr/>
                    <a:lstStyle/>
                    <a:p>
                      <a:r>
                        <a:rPr lang="en-US" dirty="0"/>
                        <a:t>Saying and doing</a:t>
                      </a:r>
                    </a:p>
                    <a:p>
                      <a:r>
                        <a:rPr lang="en-US" sz="1400" dirty="0"/>
                        <a:t>(What does the stakeholder say?)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Assign sales and marketing targets to boost revenue, monitor daily sales transaction data, and report the company’s current business performance to upper management.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136976"/>
                  </a:ext>
                </a:extLst>
              </a:tr>
              <a:tr h="785505">
                <a:tc>
                  <a:txBody>
                    <a:bodyPr/>
                    <a:lstStyle/>
                    <a:p>
                      <a:r>
                        <a:rPr lang="en-US" dirty="0"/>
                        <a:t>Pains</a:t>
                      </a:r>
                    </a:p>
                    <a:p>
                      <a:r>
                        <a:rPr lang="en-US" sz="1400" dirty="0"/>
                        <a:t>(What are the biggest problems and challenges?)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The data is fragmented and insufficient; the dashboard lacks clarity and is visually overwhelming; and there is not enough information to forecast future trends.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121289"/>
                  </a:ext>
                </a:extLst>
              </a:tr>
              <a:tr h="785505">
                <a:tc>
                  <a:txBody>
                    <a:bodyPr/>
                    <a:lstStyle/>
                    <a:p>
                      <a:r>
                        <a:rPr lang="en-US" dirty="0"/>
                        <a:t>Gains</a:t>
                      </a:r>
                    </a:p>
                    <a:p>
                      <a:r>
                        <a:rPr lang="en-US" sz="1400" dirty="0"/>
                        <a:t>(What are the opportunities and benefits?)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There is an opportunity to increase company profits through a clear and user-friendly dashboard, with early warning signals to help prevent profit decline.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361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7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76F4-ECFA-4D11-8104-98F476F4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50CB-C82B-0302-32A3-8C621B97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30"/>
            <a:ext cx="9382590" cy="9830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Stage 1: Empathize – Stakeholder need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9E0D18A-0783-7C34-2B02-D25BE397A3B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254858328"/>
              </p:ext>
            </p:extLst>
          </p:nvPr>
        </p:nvGraphicFramePr>
        <p:xfrm>
          <a:off x="1175857" y="1157682"/>
          <a:ext cx="9840285" cy="118872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6471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3814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939566">
                <a:tc>
                  <a:txBody>
                    <a:bodyPr/>
                    <a:lstStyle/>
                    <a:p>
                      <a:r>
                        <a:rPr lang="en-US" dirty="0"/>
                        <a:t>What are the key questions that stakeholder want to answer?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A well-structured and visually intuitive dashboard delivers clear, actionable information and valuable insights, serving as a strategic tool to inform the company’s future direction.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46808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832984-FE26-F638-CB01-DACEB8CCB24E}"/>
              </a:ext>
            </a:extLst>
          </p:cNvPr>
          <p:cNvGraphicFramePr>
            <a:graphicFrameLocks noGrp="1"/>
          </p:cNvGraphicFramePr>
          <p:nvPr/>
        </p:nvGraphicFramePr>
        <p:xfrm>
          <a:off x="7331978" y="582196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70538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31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0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9A0FC-B9F8-CAFE-08E2-B2B90835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2952-4F13-E489-8E54-2EF7847C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30"/>
            <a:ext cx="9382590" cy="98305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1: Empathize – Dataset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479963-0D6B-8902-BD21-0C7EBE6D9EB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89893966"/>
              </p:ext>
            </p:extLst>
          </p:nvPr>
        </p:nvGraphicFramePr>
        <p:xfrm>
          <a:off x="1175857" y="1157682"/>
          <a:ext cx="9840285" cy="3422708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616251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1343664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  <a:gridCol w="6880370">
                  <a:extLst>
                    <a:ext uri="{9D8B030D-6E8A-4147-A177-3AD203B41FA5}">
                      <a16:colId xmlns:a16="http://schemas.microsoft.com/office/drawing/2014/main" val="1137765941"/>
                    </a:ext>
                  </a:extLst>
                </a:gridCol>
              </a:tblGrid>
              <a:tr h="377503">
                <a:tc>
                  <a:txBody>
                    <a:bodyPr/>
                    <a:lstStyle/>
                    <a:p>
                      <a:r>
                        <a:rPr lang="en-US" dirty="0"/>
                        <a:t>Table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Table descriptions: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Orders</a:t>
                      </a:r>
                      <a:r>
                        <a:rPr lang="en-US" sz="1600" dirty="0"/>
                        <a:t>: Stores transaction data.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People</a:t>
                      </a:r>
                      <a:r>
                        <a:rPr lang="en-US" sz="1600" dirty="0"/>
                        <a:t>: Stores information about sales representatives by region.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Returns</a:t>
                      </a:r>
                      <a:r>
                        <a:rPr lang="en-US" sz="1600" dirty="0"/>
                        <a:t>: Stores information on returned orders.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468084"/>
                  </a:ext>
                </a:extLst>
              </a:tr>
              <a:tr h="377504">
                <a:tc>
                  <a:txBody>
                    <a:bodyPr/>
                    <a:lstStyle/>
                    <a:p>
                      <a:r>
                        <a:rPr lang="en-US" dirty="0"/>
                        <a:t>Fact 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Orders.csv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3026"/>
                  </a:ext>
                </a:extLst>
              </a:tr>
              <a:tr h="637564">
                <a:tc>
                  <a:txBody>
                    <a:bodyPr/>
                    <a:lstStyle/>
                    <a:p>
                      <a:r>
                        <a:rPr lang="en-US" dirty="0"/>
                        <a:t>Dim 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People.csv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Returns.csv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507937"/>
                  </a:ext>
                </a:extLst>
              </a:tr>
              <a:tr h="385894">
                <a:tc gridSpan="3">
                  <a:txBody>
                    <a:bodyPr/>
                    <a:lstStyle/>
                    <a:p>
                      <a:r>
                        <a:rPr lang="en-US" b="1" dirty="0"/>
                        <a:t>Fact table descriptions: </a:t>
                      </a:r>
                      <a:r>
                        <a:rPr lang="en-US" b="0" dirty="0"/>
                        <a:t>Orders.csv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92707"/>
                  </a:ext>
                </a:extLst>
              </a:tr>
              <a:tr h="637564">
                <a:tc gridSpan="3">
                  <a:txBody>
                    <a:bodyPr/>
                    <a:lstStyle/>
                    <a:p>
                      <a:r>
                        <a:rPr lang="en-US" sz="1600" dirty="0"/>
                        <a:t>Order ID (connect with Returns.csv), Order Date, Ship Date, Ship Mode, Customer ID, Customer Name, Segment, City, State, Country, Market, Region (connect with People.csv).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54715"/>
                  </a:ext>
                </a:extLst>
              </a:tr>
              <a:tr h="369115"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Dim table descriptions: </a:t>
                      </a:r>
                      <a:r>
                        <a:rPr lang="en-US" b="0" dirty="0"/>
                        <a:t>People.csv, Returns.csv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634997"/>
                  </a:ext>
                </a:extLst>
              </a:tr>
              <a:tr h="637564">
                <a:tc gridSpan="3">
                  <a:txBody>
                    <a:bodyPr/>
                    <a:lstStyle/>
                    <a:p>
                      <a:r>
                        <a:rPr lang="en-US" sz="1600" i="1" dirty="0"/>
                        <a:t>People.csv (Manager of region): </a:t>
                      </a:r>
                      <a:r>
                        <a:rPr lang="en-US" sz="1600" i="0" dirty="0"/>
                        <a:t>Person, Region.</a:t>
                      </a:r>
                    </a:p>
                    <a:p>
                      <a:r>
                        <a:rPr lang="en-US" sz="1600" i="1" dirty="0"/>
                        <a:t>Returns.csv (Refunded orders): </a:t>
                      </a:r>
                      <a:r>
                        <a:rPr lang="en-US" sz="1600" i="0" dirty="0"/>
                        <a:t>Order ID, Returned (Return or not).</a:t>
                      </a:r>
                      <a:endParaRPr 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40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36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6118-B63C-C7C8-D9A7-653B115E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031E-65DB-1234-04CC-936106A0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29"/>
            <a:ext cx="9382590" cy="9662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Stage 2: Define POV – North Star metric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8C46B9D-7CD7-62B2-E946-880C327C394B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973240226"/>
              </p:ext>
            </p:extLst>
          </p:nvPr>
        </p:nvGraphicFramePr>
        <p:xfrm>
          <a:off x="1173692" y="1140902"/>
          <a:ext cx="9844616" cy="297893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7693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6923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r>
                        <a:rPr lang="en-US" dirty="0"/>
                        <a:t>What value you want to measure?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Revenue and Profit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1078914">
                <a:tc>
                  <a:txBody>
                    <a:bodyPr/>
                    <a:lstStyle/>
                    <a:p>
                      <a:r>
                        <a:rPr lang="en-US" dirty="0"/>
                        <a:t>When the value delivery success?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Stable or strong growth.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No significant decline in profit margin.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Return rate not increasing in proportion to growth.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Scalable product.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14397"/>
                  </a:ext>
                </a:extLst>
              </a:tr>
              <a:tr h="431104">
                <a:tc>
                  <a:txBody>
                    <a:bodyPr/>
                    <a:lstStyle/>
                    <a:p>
                      <a:r>
                        <a:rPr lang="en-US" dirty="0"/>
                        <a:t>North Star metric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Revenue Growth by Region-Product Pair.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00466"/>
                  </a:ext>
                </a:extLst>
              </a:tr>
              <a:tr h="704675">
                <a:tc>
                  <a:txBody>
                    <a:bodyPr/>
                    <a:lstStyle/>
                    <a:p>
                      <a:r>
                        <a:rPr lang="en-US" dirty="0"/>
                        <a:t>Why do you choose this metric?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Identify products showing growth across the highest number of regions to prioritize investment and development, and determine which regions have the greatest growth potential.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75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39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CD4C-0702-E4C6-B7F0-5457F7AC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80AB-21B7-9DDC-899C-DEE81E29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224963"/>
            <a:ext cx="9382590" cy="9662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Stage 2: Define POV – Define Point of 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8EF937-B8CC-C4E5-A5F8-15746242EB6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376982624"/>
              </p:ext>
            </p:extLst>
          </p:nvPr>
        </p:nvGraphicFramePr>
        <p:xfrm>
          <a:off x="1173691" y="1266737"/>
          <a:ext cx="9773942" cy="721454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3360905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2137679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  <a:gridCol w="2137679">
                  <a:extLst>
                    <a:ext uri="{9D8B030D-6E8A-4147-A177-3AD203B41FA5}">
                      <a16:colId xmlns:a16="http://schemas.microsoft.com/office/drawing/2014/main" val="2598711874"/>
                    </a:ext>
                  </a:extLst>
                </a:gridCol>
                <a:gridCol w="2137679">
                  <a:extLst>
                    <a:ext uri="{9D8B030D-6E8A-4147-A177-3AD203B41FA5}">
                      <a16:colId xmlns:a16="http://schemas.microsoft.com/office/drawing/2014/main" val="264920429"/>
                    </a:ext>
                  </a:extLst>
                </a:gridCol>
              </a:tblGrid>
              <a:tr h="234892">
                <a:tc rowSpan="2">
                  <a:txBody>
                    <a:bodyPr/>
                    <a:lstStyle/>
                    <a:p>
                      <a:r>
                        <a:rPr lang="en-US" dirty="0"/>
                        <a:t>Brainstorming Point of 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POV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POV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POV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3861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1439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295607-4749-D30A-083C-B3B6EB143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614262"/>
              </p:ext>
            </p:extLst>
          </p:nvPr>
        </p:nvGraphicFramePr>
        <p:xfrm>
          <a:off x="1173691" y="2245075"/>
          <a:ext cx="9844617" cy="332232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1603064">
                  <a:extLst>
                    <a:ext uri="{9D8B030D-6E8A-4147-A177-3AD203B41FA5}">
                      <a16:colId xmlns:a16="http://schemas.microsoft.com/office/drawing/2014/main" val="2532961276"/>
                    </a:ext>
                  </a:extLst>
                </a:gridCol>
                <a:gridCol w="2944536">
                  <a:extLst>
                    <a:ext uri="{9D8B030D-6E8A-4147-A177-3AD203B41FA5}">
                      <a16:colId xmlns:a16="http://schemas.microsoft.com/office/drawing/2014/main" val="1365430233"/>
                    </a:ext>
                  </a:extLst>
                </a:gridCol>
                <a:gridCol w="5297017">
                  <a:extLst>
                    <a:ext uri="{9D8B030D-6E8A-4147-A177-3AD203B41FA5}">
                      <a16:colId xmlns:a16="http://schemas.microsoft.com/office/drawing/2014/main" val="1225001407"/>
                    </a:ext>
                  </a:extLst>
                </a:gridCol>
              </a:tblGrid>
              <a:tr h="2348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 of 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Why does stakeholder want to see this view?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583517"/>
                  </a:ext>
                </a:extLst>
              </a:tr>
              <a:tr h="646380">
                <a:tc>
                  <a:txBody>
                    <a:bodyPr/>
                    <a:lstStyle/>
                    <a:p>
                      <a:r>
                        <a:rPr lang="en-US" dirty="0"/>
                        <a:t>POV 1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Provide an overview of revenue and profit by region and product.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They need an overall view of business performance, identifying products or product groups with competitive advantage. In addition, they need to know which regions currently serve as 'safe zones'.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652431"/>
                  </a:ext>
                </a:extLst>
              </a:tr>
              <a:tr h="503654">
                <a:tc>
                  <a:txBody>
                    <a:bodyPr/>
                    <a:lstStyle/>
                    <a:p>
                      <a:r>
                        <a:rPr lang="en-US" dirty="0"/>
                        <a:t>POV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Drill down into revenue and profit by product or product group, including profitability ratio and return rate.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They want to identify products or product groups with high profitability and low return rates, enabling them to select core products while minimizing unprofitable or high-return items.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392019"/>
                  </a:ext>
                </a:extLst>
              </a:tr>
              <a:tr h="490830">
                <a:tc>
                  <a:txBody>
                    <a:bodyPr/>
                    <a:lstStyle/>
                    <a:p>
                      <a:r>
                        <a:rPr lang="en-US" dirty="0"/>
                        <a:t>POV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Drill down into revenue and profit by region, including return rate for each region.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Identify which regions are currently 'safe zones' for potential expansion.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360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37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68FF-EA3A-60D3-63BF-B7458C8B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FB77-41C6-EC04-1A22-D06DFAA2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29"/>
            <a:ext cx="9382590" cy="9662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Stage 2: Define POV – Growth formula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AADB8C6-112F-743A-8ED6-3221A66E2C7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9652173"/>
              </p:ext>
            </p:extLst>
          </p:nvPr>
        </p:nvGraphicFramePr>
        <p:xfrm>
          <a:off x="1173692" y="1140902"/>
          <a:ext cx="9844616" cy="490728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77693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7066923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r>
                        <a:rPr lang="en-US" dirty="0"/>
                        <a:t>Growth formula breakdown according to POV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sales.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revenue.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profit.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Profit margin.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orders.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Return rates.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1078914">
                <a:tc>
                  <a:txBody>
                    <a:bodyPr/>
                    <a:lstStyle/>
                    <a:p>
                      <a:r>
                        <a:rPr lang="en-US" dirty="0"/>
                        <a:t>Growth formula breakdown according to POV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sales.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revenue.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profit.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Profit margin.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orders.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Return rates.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14397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Growth formula breakdown according to POV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sales.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revenue.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profit.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Profit margin.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Total orders.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Return rates.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Sales volume.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00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79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3FB3-1BC8-E5F0-892F-7B7EBB15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9AFA-E292-A815-7D21-EE873DF8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29"/>
            <a:ext cx="9382590" cy="966273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3: Ideate – Brainstorming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0CF694-20AD-1AF7-B8C4-58EC1F40318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906886785"/>
              </p:ext>
            </p:extLst>
          </p:nvPr>
        </p:nvGraphicFramePr>
        <p:xfrm>
          <a:off x="1173692" y="1140902"/>
          <a:ext cx="9844616" cy="349885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567798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2575420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  <a:gridCol w="2345757">
                  <a:extLst>
                    <a:ext uri="{9D8B030D-6E8A-4147-A177-3AD203B41FA5}">
                      <a16:colId xmlns:a16="http://schemas.microsoft.com/office/drawing/2014/main" val="1409663310"/>
                    </a:ext>
                  </a:extLst>
                </a:gridCol>
                <a:gridCol w="2355641">
                  <a:extLst>
                    <a:ext uri="{9D8B030D-6E8A-4147-A177-3AD203B41FA5}">
                      <a16:colId xmlns:a16="http://schemas.microsoft.com/office/drawing/2014/main" val="4029045761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r>
                        <a:rPr lang="en-US" dirty="0"/>
                        <a:t>Idea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POV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POV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POV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Layer 1: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KPI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Sales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Region 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00466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Layer 2: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Trending by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Top 7 products in sales, profit,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Trending in region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61611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Layer 3: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Sales 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276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07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3846-3EFE-B94B-B7DB-4FC269A0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4191-760C-51AF-96D0-5D510EB2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5" y="174629"/>
            <a:ext cx="9382590" cy="966273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Stage 3: Ideate – Structure idea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C8CABD-1872-B3A2-F2C6-1252E669CFB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85074853"/>
              </p:ext>
            </p:extLst>
          </p:nvPr>
        </p:nvGraphicFramePr>
        <p:xfrm>
          <a:off x="1173692" y="1140902"/>
          <a:ext cx="9844616" cy="3498851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567798">
                  <a:extLst>
                    <a:ext uri="{9D8B030D-6E8A-4147-A177-3AD203B41FA5}">
                      <a16:colId xmlns:a16="http://schemas.microsoft.com/office/drawing/2014/main" val="2208185927"/>
                    </a:ext>
                  </a:extLst>
                </a:gridCol>
                <a:gridCol w="2575420">
                  <a:extLst>
                    <a:ext uri="{9D8B030D-6E8A-4147-A177-3AD203B41FA5}">
                      <a16:colId xmlns:a16="http://schemas.microsoft.com/office/drawing/2014/main" val="893288176"/>
                    </a:ext>
                  </a:extLst>
                </a:gridCol>
                <a:gridCol w="2345757">
                  <a:extLst>
                    <a:ext uri="{9D8B030D-6E8A-4147-A177-3AD203B41FA5}">
                      <a16:colId xmlns:a16="http://schemas.microsoft.com/office/drawing/2014/main" val="1409663310"/>
                    </a:ext>
                  </a:extLst>
                </a:gridCol>
                <a:gridCol w="2355641">
                  <a:extLst>
                    <a:ext uri="{9D8B030D-6E8A-4147-A177-3AD203B41FA5}">
                      <a16:colId xmlns:a16="http://schemas.microsoft.com/office/drawing/2014/main" val="4029045761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Page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Page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Page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9216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Very important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Sales, profit, revenue.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Profit margin, return rate. Revenue, sales.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Top 7 products in high profit, sales, revenue.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00466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Important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Orders, return rates.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Volumes.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Profit margin, return rates, orders.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61611"/>
                  </a:ext>
                </a:extLst>
              </a:tr>
              <a:tr h="950966">
                <a:tc>
                  <a:txBody>
                    <a:bodyPr/>
                    <a:lstStyle/>
                    <a:p>
                      <a:r>
                        <a:rPr lang="en-US" dirty="0"/>
                        <a:t>Detailed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Information in times view.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Information in product category view of each region.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Information in product category view.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276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9827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{257FB883-3DDC-4FC8-875F-B048DFE6E287}TF3977e381-cba5-49b1-ba43-b5d865517af907ebbda9_win32-372d4d6ae720</Template>
  <TotalTime>1119</TotalTime>
  <Words>1058</Words>
  <Application>Microsoft Office PowerPoint</Application>
  <PresentationFormat>Widescreen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Tisa Offc Serif Pro</vt:lpstr>
      <vt:lpstr>Univers Light</vt:lpstr>
      <vt:lpstr>Custom</vt:lpstr>
      <vt:lpstr>Stage 1: Empathize – 5W1H</vt:lpstr>
      <vt:lpstr>Stage 1: Empathize – 5W1H</vt:lpstr>
      <vt:lpstr>Stage 1: Empathize – Empathy map</vt:lpstr>
      <vt:lpstr>Stage 1: Empathize – Stakeholder need</vt:lpstr>
      <vt:lpstr>Stage 1: Empathize – Dataset</vt:lpstr>
      <vt:lpstr>Stage 2: Define POV – North Star metric</vt:lpstr>
      <vt:lpstr>Stage 2: Define POV – Define Point of View</vt:lpstr>
      <vt:lpstr>Stage 2: Define POV – Growth formula</vt:lpstr>
      <vt:lpstr>Stage 3: Ideate – Brainstorming</vt:lpstr>
      <vt:lpstr>Stage 3: Ideate – Structure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Nguyen</dc:creator>
  <cp:lastModifiedBy>Long Nguyen</cp:lastModifiedBy>
  <cp:revision>18</cp:revision>
  <dcterms:created xsi:type="dcterms:W3CDTF">2025-07-16T08:38:44Z</dcterms:created>
  <dcterms:modified xsi:type="dcterms:W3CDTF">2025-08-25T07:16:43Z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